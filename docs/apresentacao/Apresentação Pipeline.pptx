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74520"/>
            <a:ext cx="5029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090D">
              <a:alpha val="8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B090D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806440" y="4882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3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82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D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PÓS TECH</a:t>
            </a:r>
            <a:endParaRPr lang="en-US" sz="900" dirty="0"/>
          </a:p>
        </p:txBody>
      </p:sp>
      <p:sp>
        <p:nvSpPr>
          <p:cNvPr id="7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9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Painel de leitu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9728"/>
            <a:ext cx="5852160" cy="5033772"/>
          </a:xfrm>
          <a:prstGeom prst="rect">
            <a:avLst/>
          </a:prstGeom>
          <a:solidFill>
            <a:srgbClr val="07060A">
              <a:alpha val="8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3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FIAP</a:t>
            </a:r>
            <a:r>
              <a:rPr lang="en-US" sz="1900" dirty="0">
                <a:solidFill>
                  <a:srgbClr val="8A7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9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PÓS TECH</a:t>
            </a:r>
            <a:endParaRPr lang="en-US" sz="1900" dirty="0"/>
          </a:p>
        </p:txBody>
      </p:sp>
      <p:sp>
        <p:nvSpPr>
          <p:cNvPr id="5" name="Trac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27632"/>
            <a:ext cx="1463040" cy="54864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CHALLENGE - FASE 2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745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Híbrido para Análise da Alfabetização no Brasil</a:t>
            </a:r>
            <a:endParaRPr lang="en-US" sz="300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78" y="3611880"/>
            <a:ext cx="66389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D5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ingestão de dados públicos à inteligência para políticas educacionais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Grupo: Benito Ribeiro · Renan Kist - Maurício Cruz - Sonia Miguel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9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Pós-Tech Engenharia de Dados ·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e Problema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DISPERSOS PRECISAM SE TRANSFORMAR EM INFORMAÇÃO PARA DECISÃO</a:t>
            </a:r>
            <a:endParaRPr lang="en-US" sz="1200" dirty="0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12801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25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Acompanhar a alfabetização exige consolidar informações por município e UF</a:t>
            </a:r>
            <a:r>
              <a:rPr lang="en-US" sz="125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25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dados precisam ser organizados para permitir comparação entre resultado, meta e evolução</a:t>
            </a:r>
            <a:r>
              <a:rPr lang="en-US" sz="125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25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uma estrutura analítica, fica mais difícil identificar diferenças de desempenho e direcionar ações</a:t>
            </a:r>
            <a:r>
              <a:rPr lang="en-US" sz="125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  <a:p>
            <a:pPr>
              <a:spcAft>
                <a:spcPts val="600"/>
              </a:spcAft>
              <a:buSzPct val="100000"/>
            </a:pPr>
            <a:endParaRPr lang="en-US" sz="1250" dirty="0"/>
          </a:p>
        </p:txBody>
      </p:sp>
      <p:sp>
        <p:nvSpPr>
          <p:cNvPr id="5" name="Cartao de indic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1280160"/>
            <a:ext cx="3200400" cy="77724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15000" y="13258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366"/>
                </a:solidFill>
                <a:latin typeface="Segoe UI" pitchFamily="34" charset="0"/>
                <a:cs typeface="Segoe UI" pitchFamily="34" charset="-120"/>
              </a:rPr>
              <a:t>5.232</a:t>
            </a:r>
            <a:endParaRPr lang="en-US" sz="24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1228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Municipios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analisados</a:t>
            </a:r>
            <a:endParaRPr lang="en-US" sz="1050" dirty="0"/>
          </a:p>
        </p:txBody>
      </p:sp>
      <p:sp>
        <p:nvSpPr>
          <p:cNvPr id="8" name="Cartao de indic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2194560"/>
            <a:ext cx="3200400" cy="77724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15000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366"/>
                </a:solidFill>
                <a:latin typeface="Segoe UI" pitchFamily="34" charset="0"/>
                <a:cs typeface="Segoe UI" pitchFamily="34" charset="-120"/>
              </a:rPr>
              <a:t>2.788</a:t>
            </a:r>
            <a:endParaRPr lang="en-US" sz="2400" dirty="0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12280" y="2240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Atingiram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superaram</a:t>
            </a:r>
            <a:endParaRPr lang="en-US" sz="1050" dirty="0"/>
          </a:p>
        </p:txBody>
      </p:sp>
      <p:sp>
        <p:nvSpPr>
          <p:cNvPr id="11" name="Cartao de indic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108960"/>
            <a:ext cx="3200400" cy="77724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715000" y="3154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2.444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31546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atingiram</a:t>
            </a:r>
            <a:endParaRPr lang="en-US" sz="1050" dirty="0"/>
          </a:p>
        </p:txBody>
      </p:sp>
      <p:sp>
        <p:nvSpPr>
          <p:cNvPr id="14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3977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projeto transforma dados de alfabetização em informações comparáveis para apoiar a tomada de decisão.</a:t>
            </a:r>
            <a:endParaRPr lang="en-US" sz="1200" dirty="0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e Problema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NOSSO FOCO E O IMPACTO QUE BUSCAMOS GERAR</a:t>
            </a:r>
            <a:endParaRPr lang="en-US" sz="1200" dirty="0"/>
          </a:p>
        </p:txBody>
      </p:sp>
      <p:sp>
        <p:nvSpPr>
          <p:cNvPr id="4" name="Faixa de objetiv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34440"/>
            <a:ext cx="8321040" cy="868680"/>
          </a:xfrm>
          <a:prstGeom prst="rect">
            <a:avLst/>
          </a:prstGeom>
          <a:solidFill>
            <a:srgbClr val="2A0F1C">
              <a:alpha val="92000"/>
            </a:srgbClr>
          </a:solidFill>
          <a:ln w="12700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uma pipeline híbrida (batch + streaming) em nuvem que integre as fontes do indicador de alfabetização com qualidade, escalabilidade e eficiência de custos.</a:t>
            </a:r>
            <a:endParaRPr lang="en-US" sz="1400" dirty="0"/>
          </a:p>
        </p:txBody>
      </p:sp>
      <p:sp>
        <p:nvSpPr>
          <p:cNvPr id="6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331720"/>
            <a:ext cx="2651760" cy="15087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331720"/>
            <a:ext cx="64008" cy="150876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Confiabilidade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de qualidade automatizadas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 ponta a ponta</a:t>
            </a:r>
            <a:endParaRPr lang="en-US" sz="1050" dirty="0"/>
          </a:p>
        </p:txBody>
      </p:sp>
      <p:sp>
        <p:nvSpPr>
          <p:cNvPr id="10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2331720"/>
            <a:ext cx="2651760" cy="15087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2331720"/>
            <a:ext cx="64008" cy="150876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474720" y="2441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8072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Medalhão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modular</a:t>
            </a:r>
            <a:endParaRPr lang="en-US" sz="1050" dirty="0"/>
          </a:p>
        </p:txBody>
      </p:sp>
      <p:sp>
        <p:nvSpPr>
          <p:cNvPr id="14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331720"/>
            <a:ext cx="2651760" cy="15087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331720"/>
            <a:ext cx="64008" cy="1508760"/>
          </a:xfrm>
          <a:prstGeom prst="rect">
            <a:avLst/>
          </a:prstGeom>
          <a:solidFill>
            <a:srgbClr val="C9A0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Eficiência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8072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Práticas de FinOps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previsível por execução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069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esperado: uma base analítica pronta para dashboards, estudos de desigualdade e modelos de IA.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e Fontes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PÚBLICOS, CONFIÁVEIS E RELEVANTES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2375"/>
              </p:ext>
            </p:extLst>
          </p:nvPr>
        </p:nvGraphicFramePr>
        <p:xfrm>
          <a:off x="411480" y="1394456"/>
          <a:ext cx="8321040" cy="19751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Entidade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9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Conteúdo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9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Origem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9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Carga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UF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Unidades federativas e códigos IBGE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dos Dados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Alfabetização Brasil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nacional por ano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dos Dados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Alfabetização por UF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Metas estaduais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dos Dados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Alfabetização por Município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Metas municipais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dos Dados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Município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Território, porte e região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IBGE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E7E2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1A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977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de análise: 2019–2025 | Abrangência: municípios e </a:t>
            </a:r>
            <a:r>
              <a:rPr lang="pt-BR" sz="1100" i="1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UFs</a:t>
            </a:r>
            <a:r>
              <a:rPr lang="pt-BR" sz="1100" i="1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território nacional.</a:t>
            </a:r>
            <a:endParaRPr lang="en-US" sz="1100" dirty="0"/>
          </a:p>
        </p:txBody>
      </p:sp>
      <p:sp>
        <p:nvSpPr>
          <p:cNvPr id="4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e Fontes</a:t>
            </a:r>
            <a:endParaRPr lang="en-US" sz="900" dirty="0"/>
          </a:p>
        </p:txBody>
      </p:sp>
      <p:sp>
        <p:nvSpPr>
          <p:cNvPr id="7" name="Text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NA AWS, SEGURA E BEM ESTRUTURADA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Espaço reservado — diagrama da arquitetura ]</a:t>
            </a:r>
            <a:endParaRPr lang="en-US" sz="1200" dirty="0"/>
          </a:p>
        </p:txBody>
      </p:sp>
      <p:sp>
        <p:nvSpPr>
          <p:cNvPr id="6" name="Cartao de cam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280160"/>
            <a:ext cx="2834640" cy="9601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Bar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280160"/>
            <a:ext cx="64008" cy="960120"/>
          </a:xfrm>
          <a:prstGeom prst="rect">
            <a:avLst/>
          </a:prstGeom>
          <a:solidFill>
            <a:srgbClr val="C98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080760" y="1353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brutos, histórico completo preservado</a:t>
            </a:r>
            <a:endParaRPr lang="en-US" sz="1050" dirty="0"/>
          </a:p>
        </p:txBody>
      </p:sp>
      <p:sp>
        <p:nvSpPr>
          <p:cNvPr id="10" name="Cartao de cam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2395728"/>
            <a:ext cx="2834640" cy="9601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Bar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2395728"/>
            <a:ext cx="64008" cy="960120"/>
          </a:xfrm>
          <a:prstGeom prst="rect">
            <a:avLst/>
          </a:prstGeom>
          <a:solidFill>
            <a:srgbClr val="BFC2C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08076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27797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limpos, padronizados e integrados</a:t>
            </a:r>
            <a:endParaRPr lang="en-US" sz="1050" dirty="0"/>
          </a:p>
        </p:txBody>
      </p:sp>
      <p:sp>
        <p:nvSpPr>
          <p:cNvPr id="14" name="Cartao de cam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3511296"/>
            <a:ext cx="2834640" cy="9601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Bar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3511296"/>
            <a:ext cx="64008" cy="960120"/>
          </a:xfrm>
          <a:prstGeom prst="rect">
            <a:avLst/>
          </a:prstGeom>
          <a:solidFill>
            <a:srgbClr val="D8C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080760" y="3584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3895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analíticos prontos para consumo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5/14</a:t>
            </a:r>
            <a:endParaRPr lang="en-US" sz="900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29FEFC1-8EFD-E79C-5C93-75B50899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80160"/>
            <a:ext cx="4786884" cy="3191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AUTOMÁTICO E CONFIÁVEL</a:t>
            </a:r>
            <a:endParaRPr lang="en-US" sz="1200" dirty="0"/>
          </a:p>
        </p:txBody>
      </p:sp>
      <p:sp>
        <p:nvSpPr>
          <p:cNvPr id="4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1536192" cy="914400"/>
          </a:xfrm>
          <a:prstGeom prst="rect">
            <a:avLst/>
          </a:prstGeom>
          <a:solidFill>
            <a:srgbClr val="3A1224">
              <a:alpha val="92000"/>
            </a:srgbClr>
          </a:solidFill>
          <a:ln w="12700">
            <a:solidFill>
              <a:srgbClr val="FF6F9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1371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Ingestão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+ streaming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29384" y="128016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1408" y="1280160"/>
            <a:ext cx="1536192" cy="914400"/>
          </a:xfrm>
          <a:prstGeom prst="rect">
            <a:avLst/>
          </a:prstGeom>
          <a:solidFill>
            <a:srgbClr val="3A1224">
              <a:alpha val="92000"/>
            </a:srgbClr>
          </a:solidFill>
          <a:ln w="12700">
            <a:solidFill>
              <a:srgbClr val="FF6F9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212848" y="1371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12848" y="1691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em Parquet</a:t>
            </a:r>
            <a:endParaRPr lang="en-US" sz="95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39312" y="128016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1336" y="1280160"/>
            <a:ext cx="1536192" cy="914400"/>
          </a:xfrm>
          <a:prstGeom prst="rect">
            <a:avLst/>
          </a:prstGeom>
          <a:solidFill>
            <a:srgbClr val="16131A">
              <a:alpha val="92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922776" y="1371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</a:t>
            </a:r>
            <a:endParaRPr lang="en-US" sz="1250" dirty="0"/>
          </a:p>
        </p:txBody>
      </p:sp>
      <p:sp>
        <p:nvSpPr>
          <p:cNvPr id="14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22776" y="1691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Limpeza e joins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128016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1280160"/>
            <a:ext cx="1536192" cy="914400"/>
          </a:xfrm>
          <a:prstGeom prst="rect">
            <a:avLst/>
          </a:prstGeom>
          <a:solidFill>
            <a:srgbClr val="16131A">
              <a:alpha val="92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32704" y="1371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32704" y="1691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analíticos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59168" y="128016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51192" y="1280160"/>
            <a:ext cx="1536192" cy="914400"/>
          </a:xfrm>
          <a:prstGeom prst="rect">
            <a:avLst/>
          </a:prstGeom>
          <a:solidFill>
            <a:srgbClr val="5A1029">
              <a:alpha val="92000"/>
            </a:srgbClr>
          </a:solidFill>
          <a:ln w="12700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42632" y="1371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42632" y="1691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D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BI, análises e IA</a:t>
            </a:r>
            <a:endParaRPr lang="en-US" sz="950" dirty="0"/>
          </a:p>
        </p:txBody>
      </p:sp>
      <p:sp>
        <p:nvSpPr>
          <p:cNvPr id="23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423160"/>
            <a:ext cx="4069080" cy="205740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423160"/>
            <a:ext cx="64008" cy="2057400"/>
          </a:xfrm>
          <a:prstGeom prst="rect">
            <a:avLst/>
          </a:prstGeom>
          <a:solidFill>
            <a:srgbClr val="C9A0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Orquestração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289864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Execução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automatizada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pipeline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Retentativas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tratamento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falhas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das etapas de processamento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Atualização do catálogo de dados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1318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Espaço reservado — tabela de jobs e SLAs 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6/14</a:t>
            </a:r>
            <a:endParaRPr lang="en-US" sz="90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FFBB3F6D-24D0-C7D6-7ABA-EC376B82C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351" y="2468879"/>
            <a:ext cx="3276902" cy="2184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DE STREAMING IMPLEMENTADO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7/14</a:t>
            </a:r>
            <a:endParaRPr lang="en-US" sz="90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EE05CE-EF3F-5CD5-4341-84796A6C1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21585"/>
            <a:ext cx="4069080" cy="179771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433E01D-411E-62E2-2D55-A7574BFE4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195828"/>
            <a:ext cx="3017520" cy="648310"/>
          </a:xfrm>
          <a:prstGeom prst="rect">
            <a:avLst/>
          </a:prstGeom>
        </p:spPr>
      </p:pic>
      <p:sp>
        <p:nvSpPr>
          <p:cNvPr id="29" name="Cartao">
            <a:extLst>
              <a:ext uri="{FF2B5EF4-FFF2-40B4-BE49-F238E27FC236}">
                <a16:creationId xmlns:a16="http://schemas.microsoft.com/office/drawing/2014/main" id="{AAF011D1-360D-7CFC-A8CB-71C2AC7B4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2651760" cy="91440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F9120B3-2AD3-12F6-5BE1-C912AA0949C8}"/>
              </a:ext>
            </a:extLst>
          </p:cNvPr>
          <p:cNvSpPr/>
          <p:nvPr/>
        </p:nvSpPr>
        <p:spPr>
          <a:xfrm>
            <a:off x="64008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EventBridge</a:t>
            </a:r>
            <a:endParaRPr lang="en-US" sz="13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3E77D10B-13EE-8475-3E39-3C5A8A778323}"/>
              </a:ext>
            </a:extLst>
          </p:cNvPr>
          <p:cNvSpPr/>
          <p:nvPr/>
        </p:nvSpPr>
        <p:spPr>
          <a:xfrm>
            <a:off x="64008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Dispara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os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eventos</a:t>
            </a:r>
            <a:endParaRPr lang="en-US" sz="1050" dirty="0"/>
          </a:p>
        </p:txBody>
      </p:sp>
      <p:sp>
        <p:nvSpPr>
          <p:cNvPr id="35" name="Cartao">
            <a:extLst>
              <a:ext uri="{FF2B5EF4-FFF2-40B4-BE49-F238E27FC236}">
                <a16:creationId xmlns:a16="http://schemas.microsoft.com/office/drawing/2014/main" id="{A1423CED-2650-1E04-7B95-1B3597F7F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280160"/>
            <a:ext cx="2651760" cy="91440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BA3E458-CA82-8128-859F-0C6E40DFD624}"/>
              </a:ext>
            </a:extLst>
          </p:cNvPr>
          <p:cNvSpPr/>
          <p:nvPr/>
        </p:nvSpPr>
        <p:spPr>
          <a:xfrm>
            <a:off x="347472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E66555B2-D37E-D205-755E-1DFE791562A1}"/>
              </a:ext>
            </a:extLst>
          </p:cNvPr>
          <p:cNvSpPr/>
          <p:nvPr/>
        </p:nvSpPr>
        <p:spPr>
          <a:xfrm>
            <a:off x="347472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Requisições</a:t>
            </a:r>
            <a:endParaRPr lang="en-US" sz="1050" dirty="0"/>
          </a:p>
        </p:txBody>
      </p:sp>
      <p:sp>
        <p:nvSpPr>
          <p:cNvPr id="41" name="Cartao">
            <a:extLst>
              <a:ext uri="{FF2B5EF4-FFF2-40B4-BE49-F238E27FC236}">
                <a16:creationId xmlns:a16="http://schemas.microsoft.com/office/drawing/2014/main" id="{DE0219FB-8022-397E-C1F2-31E581F61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280160"/>
            <a:ext cx="2651760" cy="91440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C6B73C94-2E7F-4C8B-FAC1-1175450DD717}"/>
              </a:ext>
            </a:extLst>
          </p:cNvPr>
          <p:cNvSpPr/>
          <p:nvPr/>
        </p:nvSpPr>
        <p:spPr>
          <a:xfrm>
            <a:off x="630936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</a:t>
            </a:r>
            <a:endParaRPr lang="en-US" sz="13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8F03924D-B627-26E0-4ADA-E1C1329E8A3A}"/>
              </a:ext>
            </a:extLst>
          </p:cNvPr>
          <p:cNvSpPr/>
          <p:nvPr/>
        </p:nvSpPr>
        <p:spPr>
          <a:xfrm>
            <a:off x="630936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disponibiliza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dados</a:t>
            </a:r>
            <a:endParaRPr lang="en-US" sz="1050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1D2ACF7F-CDF0-A4FB-3B97-077D292E0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996489"/>
            <a:ext cx="4069080" cy="1048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 e Análises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TRANSFORMAMOS DADOS EM RESPOSTAS RELEVANTES</a:t>
            </a:r>
            <a:endParaRPr lang="en-US" sz="1200" dirty="0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perguntas de negócio respondidas pela camada Gold</a:t>
            </a:r>
            <a:endParaRPr lang="en-US" sz="1200" dirty="0"/>
          </a:p>
        </p:txBody>
      </p:sp>
      <p:sp>
        <p:nvSpPr>
          <p:cNvPr id="6" name="Card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1645920"/>
            <a:ext cx="4114800" cy="900000"/>
          </a:xfrm>
          <a:prstGeom prst="rect">
            <a:avLst/>
          </a:prstGeom>
          <a:solidFill>
            <a:srgbClr val="1A141F"/>
          </a:solidFill>
          <a:ln w="9525">
            <a:solidFill>
              <a:srgbClr val="3A2A3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Bar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1645920"/>
            <a:ext cx="45720" cy="90000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Marcado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5800" y="1958760"/>
            <a:ext cx="274320" cy="274320"/>
          </a:xfrm>
          <a:prstGeom prst="ellipse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Num 1"/>
          <p:cNvSpPr/>
          <p:nvPr/>
        </p:nvSpPr>
        <p:spPr>
          <a:xfrm>
            <a:off x="685800" y="195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>
                <a:solidFill>
                  <a:srgbClr val="0B090D"/>
                </a:solidFill>
                <a:latin typeface="Segoe UI" pitchFamily="34" charset="0"/>
              </a:rPr>
              <a:t>1</a:t>
            </a:r>
            <a:endParaRPr lang="pt-BR" sz="900"/>
          </a:p>
        </p:txBody>
      </p:sp>
      <p:sp>
        <p:nvSpPr>
          <p:cNvPr id="10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43000" y="1828800"/>
            <a:ext cx="3154680" cy="534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E7E2E9"/>
                </a:solidFill>
                <a:latin typeface="Segoe UI" pitchFamily="34" charset="0"/>
              </a:rPr>
              <a:t>Qual o indicador de alfabetização por município?</a:t>
            </a:r>
            <a:endParaRPr lang="pt-BR" sz="1050"/>
          </a:p>
        </p:txBody>
      </p:sp>
      <p:sp>
        <p:nvSpPr>
          <p:cNvPr id="11" name="Card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663440" y="1645920"/>
            <a:ext cx="4069080" cy="900000"/>
          </a:xfrm>
          <a:prstGeom prst="rect">
            <a:avLst/>
          </a:prstGeom>
          <a:solidFill>
            <a:srgbClr val="1A141F"/>
          </a:solidFill>
          <a:ln w="9525">
            <a:solidFill>
              <a:srgbClr val="3A2A3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Bar 2"/>
          <p:cNvSpPr/>
          <p:nvPr/>
        </p:nvSpPr>
        <p:spPr>
          <a:xfrm>
            <a:off x="4663440" y="1645920"/>
            <a:ext cx="45720" cy="90000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Marcador"/>
          <p:cNvSpPr/>
          <p:nvPr/>
        </p:nvSpPr>
        <p:spPr>
          <a:xfrm>
            <a:off x="4937760" y="1958760"/>
            <a:ext cx="274320" cy="274320"/>
          </a:xfrm>
          <a:prstGeom prst="ellipse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Num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937760" y="195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>
                <a:solidFill>
                  <a:srgbClr val="0B090D"/>
                </a:solidFill>
                <a:latin typeface="Segoe UI" pitchFamily="34" charset="0"/>
              </a:rPr>
              <a:t>2</a:t>
            </a:r>
            <a:endParaRPr lang="pt-BR" sz="900"/>
          </a:p>
        </p:txBody>
      </p:sp>
      <p:sp>
        <p:nvSpPr>
          <p:cNvPr id="15" name="Text 2"/>
          <p:cNvSpPr/>
          <p:nvPr/>
        </p:nvSpPr>
        <p:spPr>
          <a:xfrm>
            <a:off x="5394960" y="1828800"/>
            <a:ext cx="3108960" cy="534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E7E2E9"/>
                </a:solidFill>
                <a:latin typeface="Segoe UI" pitchFamily="34" charset="0"/>
              </a:rPr>
              <a:t>Quais UFs estão acima da meta nacional?</a:t>
            </a:r>
            <a:endParaRPr lang="pt-BR" sz="1050"/>
          </a:p>
        </p:txBody>
      </p:sp>
      <p:sp>
        <p:nvSpPr>
          <p:cNvPr id="16" name="Card 3"/>
          <p:cNvSpPr/>
          <p:nvPr/>
        </p:nvSpPr>
        <p:spPr>
          <a:xfrm>
            <a:off x="411480" y="2745920"/>
            <a:ext cx="4114800" cy="900000"/>
          </a:xfrm>
          <a:prstGeom prst="rect">
            <a:avLst/>
          </a:prstGeom>
          <a:solidFill>
            <a:srgbClr val="1A141F"/>
          </a:solidFill>
          <a:ln w="9525">
            <a:solidFill>
              <a:srgbClr val="3A2A3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Bar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2745920"/>
            <a:ext cx="45720" cy="90000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Marcador"/>
          <p:cNvSpPr/>
          <p:nvPr/>
        </p:nvSpPr>
        <p:spPr>
          <a:xfrm>
            <a:off x="685800" y="3058760"/>
            <a:ext cx="274320" cy="274320"/>
          </a:xfrm>
          <a:prstGeom prst="ellipse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Num 3"/>
          <p:cNvSpPr/>
          <p:nvPr/>
        </p:nvSpPr>
        <p:spPr>
          <a:xfrm>
            <a:off x="685800" y="305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>
                <a:solidFill>
                  <a:srgbClr val="0B090D"/>
                </a:solidFill>
                <a:latin typeface="Segoe UI" pitchFamily="34" charset="0"/>
              </a:rPr>
              <a:t>3</a:t>
            </a:r>
            <a:endParaRPr lang="pt-BR" sz="900"/>
          </a:p>
        </p:txBody>
      </p:sp>
      <p:sp>
        <p:nvSpPr>
          <p:cNvPr id="20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43000" y="2928800"/>
            <a:ext cx="3154680" cy="534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E7E2E9"/>
                </a:solidFill>
                <a:latin typeface="Segoe UI" pitchFamily="34" charset="0"/>
              </a:rPr>
              <a:t>Como o indicador evoluiu entre 2019 e 2025?</a:t>
            </a:r>
            <a:endParaRPr lang="pt-BR" sz="1050"/>
          </a:p>
        </p:txBody>
      </p:sp>
      <p:sp>
        <p:nvSpPr>
          <p:cNvPr id="21" name="Card 4"/>
          <p:cNvSpPr/>
          <p:nvPr/>
        </p:nvSpPr>
        <p:spPr>
          <a:xfrm>
            <a:off x="4663440" y="2745920"/>
            <a:ext cx="4069080" cy="900000"/>
          </a:xfrm>
          <a:prstGeom prst="rect">
            <a:avLst/>
          </a:prstGeom>
          <a:solidFill>
            <a:srgbClr val="1A141F"/>
          </a:solidFill>
          <a:ln w="9525">
            <a:solidFill>
              <a:srgbClr val="3A2A3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" name="Bar 4"/>
          <p:cNvSpPr/>
          <p:nvPr/>
        </p:nvSpPr>
        <p:spPr>
          <a:xfrm>
            <a:off x="4663440" y="2745920"/>
            <a:ext cx="45720" cy="90000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Marcador"/>
          <p:cNvSpPr/>
          <p:nvPr/>
        </p:nvSpPr>
        <p:spPr>
          <a:xfrm>
            <a:off x="4937760" y="3058760"/>
            <a:ext cx="274320" cy="274320"/>
          </a:xfrm>
          <a:prstGeom prst="ellipse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Num 4"/>
          <p:cNvSpPr/>
          <p:nvPr/>
        </p:nvSpPr>
        <p:spPr>
          <a:xfrm>
            <a:off x="4937760" y="305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>
                <a:solidFill>
                  <a:srgbClr val="0B090D"/>
                </a:solidFill>
                <a:latin typeface="Segoe UI" pitchFamily="34" charset="0"/>
              </a:rPr>
              <a:t>4</a:t>
            </a:r>
            <a:endParaRPr lang="pt-BR" sz="900"/>
          </a:p>
        </p:txBody>
      </p:sp>
      <p:sp>
        <p:nvSpPr>
          <p:cNvPr id="25" name="Text 4"/>
          <p:cNvSpPr/>
          <p:nvPr/>
        </p:nvSpPr>
        <p:spPr>
          <a:xfrm>
            <a:off x="5394960" y="2928800"/>
            <a:ext cx="3108960" cy="534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E7E2E9"/>
                </a:solidFill>
                <a:latin typeface="Segoe UI" pitchFamily="34" charset="0"/>
              </a:rPr>
              <a:t>Qual a distância entre meta e resultado por município?</a:t>
            </a:r>
            <a:endParaRPr lang="pt-BR" sz="1050"/>
          </a:p>
        </p:txBody>
      </p:sp>
      <p:sp>
        <p:nvSpPr>
          <p:cNvPr id="26" name="Card 5"/>
          <p:cNvSpPr/>
          <p:nvPr/>
        </p:nvSpPr>
        <p:spPr>
          <a:xfrm>
            <a:off x="411480" y="3845920"/>
            <a:ext cx="4114800" cy="900000"/>
          </a:xfrm>
          <a:prstGeom prst="rect">
            <a:avLst/>
          </a:prstGeom>
          <a:solidFill>
            <a:srgbClr val="1A141F"/>
          </a:solidFill>
          <a:ln w="9525">
            <a:solidFill>
              <a:srgbClr val="3A2A3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7" name="Bar 5"/>
          <p:cNvSpPr/>
          <p:nvPr/>
        </p:nvSpPr>
        <p:spPr>
          <a:xfrm>
            <a:off x="411480" y="3845920"/>
            <a:ext cx="45720" cy="90000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Marcador"/>
          <p:cNvSpPr/>
          <p:nvPr/>
        </p:nvSpPr>
        <p:spPr>
          <a:xfrm>
            <a:off x="685800" y="4158760"/>
            <a:ext cx="274320" cy="274320"/>
          </a:xfrm>
          <a:prstGeom prst="ellipse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Num 5"/>
          <p:cNvSpPr/>
          <p:nvPr/>
        </p:nvSpPr>
        <p:spPr>
          <a:xfrm>
            <a:off x="685800" y="415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>
                <a:solidFill>
                  <a:srgbClr val="0B090D"/>
                </a:solidFill>
                <a:latin typeface="Segoe UI" pitchFamily="34" charset="0"/>
              </a:rPr>
              <a:t>5</a:t>
            </a:r>
            <a:endParaRPr lang="pt-BR" sz="900"/>
          </a:p>
        </p:txBody>
      </p:sp>
      <p:sp>
        <p:nvSpPr>
          <p:cNvPr id="30" name="Text 5"/>
          <p:cNvSpPr/>
          <p:nvPr/>
        </p:nvSpPr>
        <p:spPr>
          <a:xfrm>
            <a:off x="1143000" y="4028800"/>
            <a:ext cx="3154680" cy="534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E7E2E9"/>
                </a:solidFill>
                <a:latin typeface="Segoe UI" pitchFamily="34" charset="0"/>
              </a:rPr>
              <a:t>Quais regiões concentram maior desigualdade?</a:t>
            </a:r>
            <a:endParaRPr lang="pt-BR" sz="1050"/>
          </a:p>
        </p:txBody>
      </p:sp>
      <p:sp>
        <p:nvSpPr>
          <p:cNvPr id="31" name="Card 6"/>
          <p:cNvSpPr/>
          <p:nvPr/>
        </p:nvSpPr>
        <p:spPr>
          <a:xfrm>
            <a:off x="4663440" y="3845920"/>
            <a:ext cx="4069080" cy="900000"/>
          </a:xfrm>
          <a:prstGeom prst="rect">
            <a:avLst/>
          </a:prstGeom>
          <a:solidFill>
            <a:srgbClr val="1A141F"/>
          </a:solidFill>
          <a:ln w="9525">
            <a:solidFill>
              <a:srgbClr val="3A2A3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2" name="Bar 6"/>
          <p:cNvSpPr/>
          <p:nvPr/>
        </p:nvSpPr>
        <p:spPr>
          <a:xfrm>
            <a:off x="4663440" y="3845920"/>
            <a:ext cx="45720" cy="90000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Marcador"/>
          <p:cNvSpPr/>
          <p:nvPr/>
        </p:nvSpPr>
        <p:spPr>
          <a:xfrm>
            <a:off x="4937760" y="4158760"/>
            <a:ext cx="274320" cy="274320"/>
          </a:xfrm>
          <a:prstGeom prst="ellipse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Num 6"/>
          <p:cNvSpPr/>
          <p:nvPr/>
        </p:nvSpPr>
        <p:spPr>
          <a:xfrm>
            <a:off x="4937760" y="415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>
                <a:solidFill>
                  <a:srgbClr val="0B090D"/>
                </a:solidFill>
                <a:latin typeface="Segoe UI" pitchFamily="34" charset="0"/>
              </a:rPr>
              <a:t>6</a:t>
            </a:r>
            <a:endParaRPr lang="pt-BR" sz="900"/>
          </a:p>
        </p:txBody>
      </p:sp>
      <p:sp>
        <p:nvSpPr>
          <p:cNvPr id="35" name="Text 6"/>
          <p:cNvSpPr/>
          <p:nvPr/>
        </p:nvSpPr>
        <p:spPr>
          <a:xfrm>
            <a:off x="5394960" y="4028800"/>
            <a:ext cx="3108960" cy="534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E7E2E9"/>
                </a:solidFill>
                <a:latin typeface="Segoe UI" pitchFamily="34" charset="0"/>
              </a:rPr>
              <a:t>Qual o porte de município com melhor desempenho?</a:t>
            </a:r>
            <a:endParaRPr lang="pt-BR" sz="1050"/>
          </a:p>
        </p:txBody>
      </p:sp>
      <p:sp>
        <p:nvSpPr>
          <p:cNvPr id="5" name="Text 3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 e Análises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e Insights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QUE GERAM VALOR E IMPACTO SOCIAL</a:t>
            </a:r>
            <a:endParaRPr lang="en-US" sz="1200" dirty="0"/>
          </a:p>
        </p:txBody>
      </p:sp>
      <p:sp>
        <p:nvSpPr>
          <p:cNvPr id="6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0200" y="1280160"/>
            <a:ext cx="3322320" cy="136000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0200" y="1280160"/>
            <a:ext cx="64008" cy="136000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38800" y="1380000"/>
            <a:ext cx="29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Principais</a:t>
            </a: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38800" y="1700000"/>
            <a:ext cx="2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59,2% taxa de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alfabetização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nacional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2024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-0,7 p.p. Gap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relação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meta Nacional 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53,3%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Municípios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atingiram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meta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nacional</a:t>
            </a:r>
            <a:endParaRPr lang="en-US" sz="1050" dirty="0"/>
          </a:p>
        </p:txBody>
      </p:sp>
      <p:sp>
        <p:nvSpPr>
          <p:cNvPr id="10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0200" y="2760000"/>
            <a:ext cx="3322320" cy="128000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0200" y="2760000"/>
            <a:ext cx="64008" cy="1280000"/>
          </a:xfrm>
          <a:prstGeom prst="rect">
            <a:avLst/>
          </a:prstGeom>
          <a:solidFill>
            <a:srgbClr val="C9A0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38800" y="2830000"/>
            <a:ext cx="29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Impactos identificados</a:t>
            </a:r>
            <a:endParaRPr lang="en-US" sz="1300" dirty="0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38800" y="3180000"/>
            <a:ext cx="2900000" cy="8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2.444 municípios abaixo da meta em 2024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46,7% dos municípios não atingiram a meta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32,0 </a:t>
            </a:r>
            <a:r>
              <a:rPr lang="pt-BR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p.p</a:t>
            </a: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de redução na proporção que atinge a meta entre 2024 e 2030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e Insights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9/14</a:t>
            </a:r>
            <a:endParaRPr lang="en-US" sz="900" dirty="0"/>
          </a:p>
        </p:txBody>
      </p:sp>
      <p:sp>
        <p:nvSpPr>
          <p:cNvPr id="17" name="Nota de valor">
            <a:extLst>
              <a:ext uri="{FF2B5EF4-FFF2-40B4-BE49-F238E27FC236}">
                <a16:creationId xmlns:a16="http://schemas.microsoft.com/office/drawing/2014/main" id="{A6E12C39-A552-8348-EADD-605E36F6B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114800"/>
            <a:ext cx="8321040" cy="53000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C40FCB8-BBE1-C8B4-7EC1-374359CEC632}"/>
              </a:ext>
            </a:extLst>
          </p:cNvPr>
          <p:cNvSpPr/>
          <p:nvPr/>
        </p:nvSpPr>
        <p:spPr>
          <a:xfrm>
            <a:off x="706170" y="4150000"/>
            <a:ext cx="773166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i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elevação das metas evidencia o desafio crescente para que os municípios acompanhem o nível esperado até 2030.</a:t>
            </a:r>
            <a:endParaRPr lang="en-US" sz="11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D1FADC9D-AE72-834C-EE36-82B70C03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61" y="1296893"/>
            <a:ext cx="4886255" cy="26640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FinOps e Eficiência na Nuvem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MÁXIMO VALOR COM MÍNIMO CUSTO</a:t>
            </a:r>
            <a:endParaRPr lang="en-US" sz="1200" dirty="0"/>
          </a:p>
        </p:txBody>
      </p:sp>
      <p:sp>
        <p:nvSpPr>
          <p:cNvPr id="4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2651760" cy="17373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64008" cy="173736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Armazenamento</a:t>
            </a:r>
            <a:endParaRPr lang="en-US" sz="13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75564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Parquet com compressão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Particionamento por ano e UF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vida entre camadas</a:t>
            </a:r>
            <a:endParaRPr lang="en-US" sz="1050" dirty="0"/>
          </a:p>
        </p:txBody>
      </p:sp>
      <p:sp>
        <p:nvSpPr>
          <p:cNvPr id="8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280160"/>
            <a:ext cx="2651760" cy="17373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280160"/>
            <a:ext cx="64008" cy="173736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7472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</a:t>
            </a:r>
            <a:endParaRPr lang="en-US" sz="130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74720" y="175564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elásticos sob demanda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Dimensionamento por volume real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incrementais</a:t>
            </a:r>
            <a:endParaRPr lang="en-US" sz="1050" dirty="0"/>
          </a:p>
        </p:txBody>
      </p:sp>
      <p:sp>
        <p:nvSpPr>
          <p:cNvPr id="12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280160"/>
            <a:ext cx="2651760" cy="17373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280160"/>
            <a:ext cx="64008" cy="1737360"/>
          </a:xfrm>
          <a:prstGeom prst="rect">
            <a:avLst/>
          </a:prstGeom>
          <a:solidFill>
            <a:srgbClr val="C9A0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0936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75564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seletiva de colunas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por partição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Materialização da camada Gold</a:t>
            </a:r>
            <a:endParaRPr lang="en-US" sz="1050" dirty="0"/>
          </a:p>
        </p:txBody>
      </p:sp>
      <p:sp>
        <p:nvSpPr>
          <p:cNvPr id="16" name="Area reserv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200400"/>
            <a:ext cx="5120640" cy="1280160"/>
          </a:xfrm>
          <a:prstGeom prst="rect">
            <a:avLst/>
          </a:prstGeom>
          <a:solidFill>
            <a:srgbClr val="16131A">
              <a:alpha val="75000"/>
            </a:srgbClr>
          </a:solidFill>
          <a:ln w="12700">
            <a:solidFill>
              <a:srgbClr val="D8CBB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Espaço reservado — tabela de estimativa de custo mensal ]</a:t>
            </a:r>
            <a:endParaRPr lang="en-US" sz="1200" dirty="0"/>
          </a:p>
        </p:txBody>
      </p:sp>
      <p:sp>
        <p:nvSpPr>
          <p:cNvPr id="18" name="Destaque de econom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3200400"/>
            <a:ext cx="3017520" cy="1280160"/>
          </a:xfrm>
          <a:prstGeom prst="rect">
            <a:avLst/>
          </a:prstGeom>
          <a:solidFill>
            <a:srgbClr val="2A0F1C">
              <a:alpha val="92000"/>
            </a:srgbClr>
          </a:solidFill>
          <a:ln w="12700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8521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Otimização</a:t>
            </a:r>
            <a:r>
              <a:rPr lang="en-US" sz="1600" b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b="1" dirty="0" err="1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contínua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0" y="3794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Medir a duração real das execuções e ajustar </a:t>
            </a:r>
            <a:r>
              <a:rPr lang="pt-BR" sz="1000" dirty="0" err="1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Glue</a:t>
            </a:r>
            <a:r>
              <a:rPr lang="pt-BR" sz="100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Jobs, </a:t>
            </a:r>
            <a:r>
              <a:rPr lang="pt-BR" sz="1000" dirty="0" err="1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Crawlers</a:t>
            </a:r>
            <a:r>
              <a:rPr lang="pt-BR" sz="1000" dirty="0">
                <a:solidFill>
                  <a:srgbClr val="E7E2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consultas conforme o volume processado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10/14</a:t>
            </a:r>
            <a:endParaRPr lang="en-US" sz="90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CA8B5016-4096-1890-60D9-4C1ED041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30575"/>
            <a:ext cx="5120640" cy="12198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e Visualização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INFORMAÇÃO CLARA PARA TOMADA DE DECISÃO</a:t>
            </a:r>
            <a:endParaRPr lang="en-US" sz="1200" dirty="0"/>
          </a:p>
        </p:txBody>
      </p:sp>
      <p:sp>
        <p:nvSpPr>
          <p:cNvPr id="4" name="Area reserv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5577840" cy="3200400"/>
          </a:xfrm>
          <a:prstGeom prst="rect">
            <a:avLst/>
          </a:prstGeom>
          <a:solidFill>
            <a:srgbClr val="16131A">
              <a:alpha val="75000"/>
            </a:srgbClr>
          </a:solidFill>
          <a:ln w="12700">
            <a:solidFill>
              <a:srgbClr val="FF6F9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Espaço reservado — captura do dashboard ]</a:t>
            </a:r>
            <a:endParaRPr lang="en-US" sz="1200" dirty="0"/>
          </a:p>
        </p:txBody>
      </p:sp>
      <p:sp>
        <p:nvSpPr>
          <p:cNvPr id="6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280160"/>
            <a:ext cx="2560320" cy="15087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280160"/>
            <a:ext cx="64008" cy="150876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0" y="1389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Visões do painel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7556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UF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por UF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município</a:t>
            </a:r>
            <a:endParaRPr lang="en-US" sz="1050" dirty="0"/>
          </a:p>
        </p:txBody>
      </p:sp>
      <p:sp>
        <p:nvSpPr>
          <p:cNvPr id="10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971800"/>
            <a:ext cx="2560320" cy="150876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971800"/>
            <a:ext cx="64008" cy="150876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30815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é consumido</a:t>
            </a:r>
            <a:endParaRPr lang="en-US" sz="1300" dirty="0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0" y="34472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por ano e região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 meta x resultado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Exportação para relatórios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e Visualização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11/14</a:t>
            </a:r>
            <a:endParaRPr lang="en-US" sz="9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73624EC5-A086-6DAB-14FC-CE0873441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60627"/>
            <a:ext cx="5577840" cy="30394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Evidências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PROVA DE FUNCIONAMENTO DA SOLUÇÃO</a:t>
            </a:r>
            <a:endParaRPr lang="en-US" sz="1200" dirty="0"/>
          </a:p>
        </p:txBody>
      </p:sp>
      <p:sp>
        <p:nvSpPr>
          <p:cNvPr id="4" name="Item de evidenc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4069080" cy="7315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4360" y="1335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Execução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12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Execuções</a:t>
            </a:r>
            <a:r>
              <a:rPr lang="en-US" sz="10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concluídas</a:t>
            </a:r>
            <a:r>
              <a:rPr lang="en-US" sz="10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</a:t>
            </a:r>
            <a:r>
              <a:rPr lang="en-US" sz="100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sucesso</a:t>
            </a:r>
            <a:endParaRPr lang="en-US" sz="1000" dirty="0"/>
          </a:p>
        </p:txBody>
      </p:sp>
      <p:sp>
        <p:nvSpPr>
          <p:cNvPr id="7" name="Item de evidenc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280160"/>
            <a:ext cx="4069080" cy="7315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46320" y="1335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nas camadas</a:t>
            </a:r>
            <a:endParaRPr lang="en-US" sz="12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46320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organizados nas camadas Bronze, Silver e Gold</a:t>
            </a:r>
            <a:endParaRPr lang="en-US" sz="1000" dirty="0"/>
          </a:p>
        </p:txBody>
      </p:sp>
      <p:sp>
        <p:nvSpPr>
          <p:cNvPr id="10" name="Item de evidenc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148840"/>
            <a:ext cx="4069080" cy="7315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" y="2203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 e resultados</a:t>
            </a:r>
            <a:endParaRPr lang="en-US" sz="1200" dirty="0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4360" y="2496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 executadas na camada Gold</a:t>
            </a:r>
            <a:endParaRPr lang="en-US" sz="1000" dirty="0"/>
          </a:p>
        </p:txBody>
      </p:sp>
      <p:sp>
        <p:nvSpPr>
          <p:cNvPr id="13" name="Item de evidenc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4069080" cy="7315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46320" y="2203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Visualização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dos dados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496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publicado para análise dos indicadores</a:t>
            </a:r>
            <a:endParaRPr lang="en-US" sz="1000" dirty="0"/>
          </a:p>
        </p:txBody>
      </p:sp>
      <p:sp>
        <p:nvSpPr>
          <p:cNvPr id="18" name="Text 1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Evidências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12/14</a:t>
            </a:r>
            <a:endParaRPr lang="en-US" sz="9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9D4E3D6-21EA-1165-7616-C0B352715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3017520"/>
            <a:ext cx="3215945" cy="164592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426ACE3-9561-65E4-71C0-D916B1CA5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822" y="3017520"/>
            <a:ext cx="3436315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e Possibilidades Futuras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PREPARADA PARA RELATÓRIOS, IA E EVOLUÇÃO CONTÍNUA</a:t>
            </a:r>
            <a:endParaRPr lang="en-US" sz="1200" dirty="0"/>
          </a:p>
        </p:txBody>
      </p:sp>
      <p:sp>
        <p:nvSpPr>
          <p:cNvPr id="4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2651760" cy="169164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80160"/>
            <a:ext cx="64008" cy="169164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Análises</a:t>
            </a: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avançadas</a:t>
            </a:r>
            <a:endParaRPr lang="en-US" sz="13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755648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Correlações socioeconômicas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Estudos de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desigualdade</a:t>
            </a:r>
            <a:endParaRPr lang="en-US" sz="1050" dirty="0">
              <a:solidFill>
                <a:srgbClr val="B7B0B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Análise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 de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evolução</a:t>
            </a:r>
            <a:endParaRPr lang="en-US" sz="1050" dirty="0"/>
          </a:p>
        </p:txBody>
      </p:sp>
      <p:sp>
        <p:nvSpPr>
          <p:cNvPr id="8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280160"/>
            <a:ext cx="2651760" cy="169164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280160"/>
            <a:ext cx="64008" cy="1691640"/>
          </a:xfrm>
          <a:prstGeom prst="rect">
            <a:avLst/>
          </a:prstGeom>
          <a:solidFill>
            <a:srgbClr val="C9A0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7472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e Machine Learning</a:t>
            </a:r>
            <a:endParaRPr lang="en-US" sz="130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74720" y="1755648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preditivos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Classificação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municípios</a:t>
            </a:r>
            <a:endParaRPr lang="en-US" sz="1050" dirty="0">
              <a:solidFill>
                <a:srgbClr val="B7B0B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Clusters de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cs typeface="Segoe UI" pitchFamily="34" charset="-120"/>
              </a:rPr>
              <a:t>vulnerabilidade</a:t>
            </a:r>
            <a:endParaRPr lang="en-US" sz="1050" dirty="0"/>
          </a:p>
        </p:txBody>
      </p:sp>
      <p:sp>
        <p:nvSpPr>
          <p:cNvPr id="12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280160"/>
            <a:ext cx="2651760" cy="169164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280160"/>
            <a:ext cx="64008" cy="169164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0936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755648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Novas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dados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Novos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</a:t>
            </a:r>
            <a:endParaRPr lang="en-US" sz="1050" dirty="0">
              <a:solidFill>
                <a:srgbClr val="B7B0B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Novos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</a:t>
            </a:r>
            <a:endParaRPr lang="en-US" sz="1050" dirty="0">
              <a:solidFill>
                <a:srgbClr val="B7B0B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18" name="Nota de val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" y="3392424"/>
            <a:ext cx="8257032" cy="1088135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06170" y="3567064"/>
            <a:ext cx="7889190" cy="77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i="1" dirty="0">
                <a:solidFill>
                  <a:srgbClr val="FF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camada Gold concentra dados estruturados e prontos para consumo, permitindo a evolução de análises descritivas para análises preditivas e aplicações de IA.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e Futuro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5" hasCustomPrompt="1"/>
          </p:nvPr>
        </p:nvSpPr>
        <p:spPr>
          <a:xfrm>
            <a:off x="411480" y="182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F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ENTREGAMOS VALOR HOJE E ESTAMOS PRONTOS PARA ALÉM</a:t>
            </a:r>
            <a:endParaRPr lang="en-US" sz="1200" dirty="0"/>
          </a:p>
        </p:txBody>
      </p:sp>
      <p:sp>
        <p:nvSpPr>
          <p:cNvPr id="4" name="Faixa f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34440"/>
            <a:ext cx="8321040" cy="914400"/>
          </a:xfrm>
          <a:prstGeom prst="rect">
            <a:avLst/>
          </a:prstGeom>
          <a:solidFill>
            <a:srgbClr val="2A0F1C">
              <a:alpha val="92000"/>
            </a:srgbClr>
          </a:solidFill>
          <a:ln w="12700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Construímos uma base de dados confiável, escalável e eficiente, preparada para gerar insights e sustentar a evolução para análises preditivas e aplicações de IA.</a:t>
            </a: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377440"/>
            <a:ext cx="4069080" cy="21031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377440"/>
            <a:ext cx="64008" cy="2103120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entregamos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híbrida batch + streaming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Medalhão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Implementada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de qualidade e monitoramento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 analítica pronta para consumo</a:t>
            </a:r>
            <a:endParaRPr lang="en-US" sz="1050" dirty="0"/>
          </a:p>
        </p:txBody>
      </p:sp>
      <p:sp>
        <p:nvSpPr>
          <p:cNvPr id="10" name="Carta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377440"/>
            <a:ext cx="4069080" cy="2103120"/>
          </a:xfrm>
          <a:prstGeom prst="rect">
            <a:avLst/>
          </a:prstGeom>
          <a:solidFill>
            <a:srgbClr val="16131A">
              <a:alpha val="88000"/>
            </a:srgbClr>
          </a:solidFill>
          <a:ln w="12700">
            <a:solidFill>
              <a:srgbClr val="3B2F3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Barra de destaq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377440"/>
            <a:ext cx="64008" cy="2103120"/>
          </a:xfrm>
          <a:prstGeom prst="rect">
            <a:avLst/>
          </a:prstGeom>
          <a:solidFill>
            <a:srgbClr val="C9A0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9204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852928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o uso dos dashboards e análises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Incorporar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fontes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socioeconômicas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Desenvolver modelos preditivos por município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</a:t>
            </a:r>
            <a:r>
              <a:rPr lang="en-US" sz="105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cobertura histórica da 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82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7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933</Words>
  <Application>Microsoft Office PowerPoint</Application>
  <PresentationFormat>Apresentação na tela (16:9)</PresentationFormat>
  <Paragraphs>229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Pipeline Híbrido para Análise da Alfabetização no Brasil</vt:lpstr>
      <vt:lpstr>Contexto e Problema</vt:lpstr>
      <vt:lpstr>Objetivo</vt:lpstr>
      <vt:lpstr>Dados e Fontes</vt:lpstr>
      <vt:lpstr>Arquitetura</vt:lpstr>
      <vt:lpstr>Pipeline</vt:lpstr>
      <vt:lpstr>Streaming</vt:lpstr>
      <vt:lpstr>Consultas e Análises</vt:lpstr>
      <vt:lpstr>Resultados e Insights</vt:lpstr>
      <vt:lpstr>FinOps e Eficiência na Nuvem</vt:lpstr>
      <vt:lpstr>BI e Visualização</vt:lpstr>
      <vt:lpstr>Evidências</vt:lpstr>
      <vt:lpstr>Valor e Possibilidades Futuras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Sonia Andreia Ribeiro Miguel</dc:creator>
  <cp:lastModifiedBy>Sonia Andreia Ribeiro Miguel</cp:lastModifiedBy>
  <cp:revision>21</cp:revision>
  <dcterms:created xsi:type="dcterms:W3CDTF">2026-08-31T03:01:23Z</dcterms:created>
  <dcterms:modified xsi:type="dcterms:W3CDTF">2026-09-02T01:52:27Z</dcterms:modified>
</cp:coreProperties>
</file>